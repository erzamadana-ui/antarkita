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Satu kalimat: AntarKita adalah super-app lokal untuk dua kota di Sumatera yang produknya sudah jadi dan teruji, tetapi belum diluncurkan komersial. Tekankan sejak awal bahwa deck ini membedakan angka bersumber dan angka asumsi.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dipilih karena spesifik dua kota ini, bukan keluhan generik ride-hailing. Angka penduduk dipakai hanya sebagai ukuran pasar dasar, bukan proyeksi permintaan.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Kuncinya bukan jumlah layanan, melainkan bahwa AntarMart (pasar tradisional) dan AntarTravel (titipan antar kota) tidak dilayani pemain nasional di dua kota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komersial dari arsitektur ini: tarif, radius jemput, sakelar layanan, dan prioritas dispatch adalah data di app_settings — bukan kode. Perubahan regulasi dapat dipenuhi dalam hitungan menit, bukan rilis.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angka Rp9.000 dan Rp6.400 bukan ilustrasi, melainkan keluaran simulasi transaksi nyata di basis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Pagar harga pasar (&gt;2x acuan ditolak; 1,35x wajib nota) adalah mekanisme kepercayaan yang membuat katalog pasar tradisional bisa dipercaya pelanggan kota.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lewati catatan BI. Investor yang serius akan menanyakannya; menyampaikannya lebih dulu membangun kredibilitas seluruh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AntarNow adalah jawaban atas kebiasaan lokal: banyak pelanggan sudah punya driver langganan. Fitur ini memindahkan hubungan itu ke dalam aplikasi, bukan melawannya.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ditanya berapa SOM: jawab bahwa angka itu akan dihitung dari data order 90 hari pertama, dan tunjukkan bahwa kami menolak mengarang angka. Kejujuran ini adalah argumen, bukan kelemahan.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Konsolidasi nasional adalah peluang, bukan hanya ancaman: perhatian pemain besar akan tersedot ke integrasi, dan batas komisi 8% menyamakan alat perang harga.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slide yang paling menentukan kredibilitas. Sampaikan sebelum ditanya. Proyeksi ride-hailing Indonesia yang masih memakai take rate 20% untuk roda dua sudah tidak sah sejak 1 Juli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Mengakui bahwa setelan komisi terpasang masih 20% lebih kuat daripada menyembunyikannya — apalagi karena perubahannya hanya satu setelan di panel admin, bukan pekerjaan rekayasa.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yang harus diucapkan persis: 'kami belum punya traksi pengguna, dan kami tidak akan berpura-pura punya.' Yang kami punya adalah produk lengkap dan bukti 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Jarak dari hari ini ke order berbayar pertama diukur dalam minggu, bukan tahun — yang tersisa adalah langkah akun dan legal, bukan pembangunan produk.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ini dirancang agar kota ketiga hanya menambah satu City Manager dan dua staf operasi — tidak menambah lapisan organisasi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Perhatikan: rasio biaya perusahaan terhadap gaji pokok pada model terealisasi 1,28x, sedikit di atas kebijakan indikatif 1,19x — selisih ini dicatat di lembar Sumber &amp; Catatan model, tidak disembunyikan.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Argumennya: perusahaan yang menganggarkan modal KBLI Rp500 juta dan menunjuk DPO sebelum order pertama adalah perusahaan yang bisa diaudit — dan itu menurunkan risiko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status kemitraan berubah menjadi hubungan kerja, model biaya berubah fundamental. Kami mencatatnya sebagai risiko nomor satu, bukan catatan kaki — dan itulah sebabnya bauran pendapatan non-komisi disiapkan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terus terang: pos Rp12 miliar adalah placeholder input pengguna pada model, bukan hasil perhitungan. Benchmark CAC dan CAD untuk Indonesia tidak ditemukan di sumber terbuka, dan kami menolak mengisinya dengan angka karangan.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Kejujuran tentang direksi yang belum diisi lebih baik daripada bagan berisi nama-nama yang belum berkomitmen. Yang kami tawarkan adalah struktur yang sudah diputuskan dan dianggarkan.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Ulangi tiga hal: produk lengkap dan teruji, kepatuhan sudah dipetakan, dan seluruh angka dipisahkan antara yang bersumber dan yang diasumsikan. Ajakan konkretnya adalah membuka uji tuntas terhadap basis kode dan model biaya.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74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-1828800"/>
            <a:ext cx="6766560" cy="6766560"/>
          </a:xfrm>
          <a:prstGeom prst="ellipse">
            <a:avLst/>
          </a:prstGeom>
          <a:solidFill>
            <a:srgbClr val="187A8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3291840"/>
            <a:ext cx="4754880" cy="4754880"/>
          </a:xfrm>
          <a:prstGeom prst="ellipse">
            <a:avLst/>
          </a:prstGeom>
          <a:solidFill>
            <a:srgbClr val="1A5E66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ANTARKITA INDONESIA  ·  PEKANBARU &amp; PADANG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2588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AntarKita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aplikasi untuk seluruh kebutuhan antar dan mobilitas warga Pekanbaru dan Padang — ojek, mobil, makanan, belanja pasar tradisional, kirim barang, dan perjalanan antar kota, dibayar dengan satu dompet AntarPay.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041648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5E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" y="41330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45902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4041648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5E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4096" y="41330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45902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92624" y="4041648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5E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38928" y="41330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45902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uji LOLOS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7456" y="4041648"/>
            <a:ext cx="1874520" cy="1051560"/>
          </a:xfrm>
          <a:prstGeom prst="roundRect">
            <a:avLst>
              <a:gd name="adj" fmla="val 12174"/>
            </a:avLst>
          </a:prstGeom>
          <a:solidFill>
            <a:srgbClr val="1A5E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41330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5902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32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pendanaan · tahap pra-pendanaan · 7 September 2026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704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Erza Pradipta Madana · Pemilik &amp; Komisaris Utama · erzamadana@gmail.com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263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ini memakai dua penanda: [S-xx] = angka bersumber pihak ketiga; [ASUMSI] = perkiraan penyusun, bukan klaim faktual.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nyata di dua kota ini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nasional melayani perjalanan, tetapi tidak melayani pasar tradisional, titipan antar kota, dan tipisnya likuiditas mitra di kota tier-2.</a:t>
            </a:r>
            <a:endParaRPr lang="en-US" sz="1200" dirty="0"/>
          </a:p>
        </p:txBody>
      </p:sp>
      <p:pic>
        <p:nvPicPr>
          <p:cNvPr id="4" name="Image 0" descr="/home/claude/antar-aja/docs/investor/aset/02-masal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4" y="1188720"/>
            <a:ext cx="11182027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BPS via Databoks — Pekanbaru 1,14 juta jiwa (2024) &amp; Padang 939,85 ribu jiwa (2024); Kepmenhub KP 564/2022 [S-24]; mitra aktif ±20% dari 3,7 juta terdaftar (Grab Indonesia, Des 2025) [S-58]. Diakses 7 September 2026.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delapan layanan dalam satu ekosistem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akun, satu dompet, satu pusat bantuan — pelanggan tidak perlu berpindah aplikasi untuk kebutuhan harian yang berbeda.</a:t>
            </a:r>
            <a:endParaRPr lang="en-US" sz="1200" dirty="0"/>
          </a:p>
        </p:txBody>
      </p:sp>
      <p:pic>
        <p:nvPicPr>
          <p:cNvPr id="4" name="Image 0" descr="/home/claude/antar-aja/docs/investor/aset/03-lay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4" y="1188720"/>
            <a:ext cx="11182027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docs/rilis/PLAY-STORE-LISTING.md dan struktur kode src/screens/** (86 layar). Seluruh layanan sudah terbangun dan lolos simulasi transaksi.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aplikasi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aplikasi di atas satu backend Supabase, dengan aturan operasional yang dapat diubah dari panel admin tanpa merilis ulang aplikasi.</a:t>
            </a:r>
            <a:endParaRPr lang="en-US" sz="1200" dirty="0"/>
          </a:p>
        </p:txBody>
      </p:sp>
      <p:pic>
        <p:nvPicPr>
          <p:cNvPr id="4" name="Image 0" descr="/home/claude/antar-aja/docs/investor/aset/04-anato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048" y="1188720"/>
            <a:ext cx="10389600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supabase/migrations/0001–0030 (66 tabel, 207 fungsi, 98 kebijakan RLS), src/screens/**, docs/INTEGRASI.md, docs/TAHAP11-KONTRAK-API.md.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pelanggan, dari pesan sampai bayar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langkah, semuanya tercatat di basis data dan dapat diaudit satu per satu.</a:t>
            </a:r>
            <a:endParaRPr lang="en-US" sz="1200" dirty="0"/>
          </a:p>
        </p:txBody>
      </p:sp>
      <p:pic>
        <p:nvPicPr>
          <p:cNvPr id="4" name="Image 0" descr="/home/claude/antar-aja/docs/investor/aset/05-perjalanan-pelang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5986"/>
            <a:ext cx="11185855" cy="45603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supabase/migrations/0025 (radius jemput &amp; prioritas rating), docs/LAPORAN-UJI-SIMULASI.md skenario S1 dan S16 — 34 skenario LOLOS dalam transaksi yang di-rollback penuh.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mitra: driver, merchant, dan pedagang pasar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 pasokan punya alur onboarding sendiri — termasuk pedagang pasar tradisional yang tidak ditangani aplikasi mana pun di dua kota ini.</a:t>
            </a:r>
            <a:endParaRPr lang="en-US" sz="1200" dirty="0"/>
          </a:p>
        </p:txBody>
      </p:sp>
      <p:pic>
        <p:nvPicPr>
          <p:cNvPr id="4" name="Image 0" descr="/home/claude/antar-aja/docs/investor/aset/06-perjalanan-mi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8077"/>
            <a:ext cx="11185855" cy="42162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src/screens/{mitra,driver,merchant,vendor}; skenario uji S8 (pagar harga pasar), S9 (penangguhan otomatis), S12 (pencairan &amp; PIN admin), S21 (katalog kendaraan) pada docs/LAPORAN-UJI-SIMULASI.md.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AntarPay dan alur uang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 tertutup dengan setiap mutasi tercatat — dan ambang izin Bank Indonesia dinyatakan di muka, bukan disembunyikan.</a:t>
            </a:r>
            <a:endParaRPr lang="en-US" sz="1200" dirty="0"/>
          </a:p>
        </p:txBody>
      </p:sp>
      <p:pic>
        <p:nvPicPr>
          <p:cNvPr id="4" name="Image 0" descr="/home/claude/antar-aja/docs/investor/aset/07-antarp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46" y="1188720"/>
            <a:ext cx="10815403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supabase/migrations (wallets, wallet_transactions, payments), Edge Function midtrans-create &amp; midtrans-webhook, docs/INTEGRASI.md; PBI 20/6/PBI/2018 [S-31]; skenario uji S0, S6, S7, S12.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Diferensiasi yang sudah terbangun, bukan rencana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hal yang membedakan AntarKita sudah ada di basis kode dan lolos uji — dapat didemokan hari ini.</a:t>
            </a:r>
            <a:endParaRPr lang="en-US" sz="1200" dirty="0"/>
          </a:p>
        </p:txBody>
      </p:sp>
      <p:pic>
        <p:nvPicPr>
          <p:cNvPr id="4" name="Image 0" descr="/home/claude/antar-aja/docs/investor/aset/08-diferensi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6919"/>
            <a:ext cx="11185855" cy="48185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supabase/migrations/0025 &amp; 0030, docs/TAHAP11-KONTRAK-API.md, docs/LAPORAN-UJI-SIMULASI.md (S5, S8).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Pasar: TAM, SAM, dan SOM yang jujur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dan SAM dikutip dari sumber; SOM sengaja tidak diangkakan karena benchmark kota tier-2 tidak tersedia.</a:t>
            </a:r>
            <a:endParaRPr lang="en-US" sz="1200" dirty="0"/>
          </a:p>
        </p:txBody>
      </p:sp>
      <p:pic>
        <p:nvPicPr>
          <p:cNvPr id="4" name="Image 0" descr="/home/claude/antar-aja/docs/investor/aset/09-pas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4" y="1188720"/>
            <a:ext cx="11182027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e-Conomy SEA 2025 (Google–Temasek–Bain), 11–27 November 2025 — GMV ekonomi digital Indonesia ≈US$100 miliar (2025, +14% YoY), proyeksi ≈US$180 miliar (2030); transportasi &amp; antar makanan US$10 miliar (2025) [S-53][S-54]. Diakses 7 September 2026.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Kompetisi dan posisi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yang kami ambil bukan yang diperebutkan pemain nasional, melainkan yang tidak mereka layani.</a:t>
            </a:r>
            <a:endParaRPr lang="en-US" sz="1200" dirty="0"/>
          </a:p>
        </p:txBody>
      </p:sp>
      <p:pic>
        <p:nvPicPr>
          <p:cNvPr id="4" name="Image 0" descr="/home/claude/antar-aja/docs/investor/aset/10-kompet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4" y="1188720"/>
            <a:ext cx="11182027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Lowy Institute, 15 Januari 2026 (rencana merger Grab–GoTo; entitas gabungan diperkirakan menguasai hingga 91% pasar ride-hailing Indonesia); Hukumonline [S-25] &amp; Kompas.id [S-27]; DataRiau (kehadiran Maxim di Pekanbaru). [ASUMSI] Penempatan matriks adalah penilaian kualitatif — pangsa pasar per pemain di Indonesia tidak tersedia terbuka. Diakses 7 September 2026.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 setelah Perpres 27/2026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potongan aplikasi ojek roda dua turun menjadi maksimal 8% sejak 1 Juli 2026 — kami sajikan dampaknya apa adanya.</a:t>
            </a:r>
            <a:endParaRPr lang="en-US" sz="1200" dirty="0"/>
          </a:p>
        </p:txBody>
      </p:sp>
      <p:pic>
        <p:nvPicPr>
          <p:cNvPr id="4" name="Image 0" descr="/home/claude/antar-aja/docs/investor/aset/11-tak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73896"/>
            <a:ext cx="11185855" cy="4904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Perpres No. 27 Tahun 2026 melalui Hukumonline [S-25] (ditandatangani 1 Mei, diundangkan 4 Mei 2026); Kepmenhub KP 564/2022 [S-24]; cakupan roda dua saja menurut Kompas.id [S-27]; rencana aturan tarif tiga layanan [S-28][S-29] berstatus RENCANA, bukan hukum positif.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satu order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dari simulasi transaksi nyata — termasuk satu setelan yang masih harus kami ubah sebelum peluncuran.</a:t>
            </a:r>
            <a:endParaRPr lang="en-US" sz="1200" dirty="0"/>
          </a:p>
        </p:txBody>
      </p:sp>
      <p:pic>
        <p:nvPicPr>
          <p:cNvPr id="4" name="Image 0" descr="/home/claude/antar-aja/docs/investor/aset/12-unit-econo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0874"/>
            <a:ext cx="11185855" cy="49906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docs/LAPORAN-UJI-SIMULASI.md skenario S1 (total Rp9.000, driver menerima Rp6.400); nilai seed pricing.commission_pct pada supabase/migrations/0001_schema.sql. Perlakuan biaya jasa aplikasi Rp1.000 terhadap batas 8% berstatus [ASUMSI].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Traksi dan status produk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siap dan teruji; perusahaan belum beroperasi komersial — tidak ada satu pun klaim pengguna, GMV, atau pendapatan.</a:t>
            </a:r>
            <a:endParaRPr lang="en-US" sz="1200" dirty="0"/>
          </a:p>
        </p:txBody>
      </p:sp>
      <p:pic>
        <p:nvPicPr>
          <p:cNvPr id="4" name="Image 0" descr="/home/claude/antar-aja/docs/investor/aset/13-trak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6919"/>
            <a:ext cx="11185855" cy="48185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docs/LAPORAN-UJI-SIMULASI.md (7 September 2026) dan docs/RENCANA-LISTING-LIVE.md. APK build-24, web live, 68 rute UI tiga aplikasi dirender tanpa error.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jalan 36 bulan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kunci pembayaran dan listing Play Store, ke satu kota, lalu dua kota, baru ekspansi.</a:t>
            </a:r>
            <a:endParaRPr lang="en-US" sz="1200" dirty="0"/>
          </a:p>
        </p:txBody>
      </p:sp>
      <p:pic>
        <p:nvPicPr>
          <p:cNvPr id="4" name="Image 0" descr="/home/claude/antar-aja/docs/investor/aset/14-peta-ja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9941"/>
            <a:ext cx="11185855" cy="47324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docs/organisasi/DESAIN-ORGANISASI.md §3 (fase &amp; headcount, keputusan mengikat) dan docs/RENCANA-LISTING-LIVE.md (langkah pra-peluncuran). Fase 3 bersifat indikatif dan ditandai [ASUMSI].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dan rencana SDM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orang untuk menyiapkan, 24 untuk satu kota, 42 untuk dua kota — dengan kepatuhan sebagai fungsi tetap sejak Fase 1.</a:t>
            </a:r>
            <a:endParaRPr lang="en-US" sz="1200" dirty="0"/>
          </a:p>
        </p:txBody>
      </p:sp>
      <p:pic>
        <p:nvPicPr>
          <p:cNvPr id="4" name="Image 0" descr="/home/claude/antar-aja/docs/investor/aset/15-organis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0874"/>
            <a:ext cx="11185855" cy="49906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docs/organisasi/DESAIN-ORGANISASI.md §1–§3 &amp; §6; lembar 'Headcount' pada docs/organisasi/AntarKita-Model-Biaya-SDM.xlsx (uji kecocokan terhadap target 9/24/42 bernilai nol).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SDM: yang bersumber dan yang diasumsikan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biaya dihitung baris per baris; seluruh pita gaji ditandai [ASUMSI] karena tidak ada benchmark terbuka untuk Pekanbaru dan Padang.</a:t>
            </a:r>
            <a:endParaRPr lang="en-US" sz="1200" dirty="0"/>
          </a:p>
        </p:txBody>
      </p:sp>
      <p:pic>
        <p:nvPicPr>
          <p:cNvPr id="4" name="Image 0" descr="/home/claude/antar-aja/docs/investor/aset/16-biaya-sd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73896"/>
            <a:ext cx="11185855" cy="4904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docs/organisasi/AntarKita-Model-Biaya-SDM.xlsx (lembar Ringkasan, Biaya Bulanan, Proyeksi 24 Bulan). UMK 2026 [S-01][S-03][S-05]; iuran BPJS pemberi kerja [S-07][S-08][S-12]; batas upah JP Rp11.086.300 [S-09]; akrual THR [S-16].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sebagai kekuatan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kewajiban menentukan boleh-tidaknya beroperasi — semuanya sudah dipetakan dengan penanggung jawab dan biayanya.</a:t>
            </a:r>
            <a:endParaRPr lang="en-US" sz="1200" dirty="0"/>
          </a:p>
        </p:txBody>
      </p:sp>
      <p:pic>
        <p:nvPicPr>
          <p:cNvPr id="4" name="Image 0" descr="/home/claude/antar-aja/docs/investor/aset/17-kepatu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2964"/>
            <a:ext cx="11185855" cy="464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Permenkominfo 5/2020 jo. 10/2021 [S-34]; UU 27/2022 Pasal 53 [S-37] dan Putusan MK No. 151/PUU-XXII/2024 [S-39]; PerBPS 7/2025 &amp; PP 28/2025 melalui Klinik Hukumonline 20 April 2026 [S-41][S-42]; PBI 20/6/PBI/2018 [S-31]. Kutipan pasal berasal dari sumber sekunder dan wajib dicek silang ke JDIH resmi sebelum diajukan ke regulator.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dan mitigasi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terbesar bukan teknologi, melainkan status hukum kemitraan mitra pengemudi yang menopang seluruh struktur biaya.</a:t>
            </a:r>
            <a:endParaRPr lang="en-US" sz="1200" dirty="0"/>
          </a:p>
        </p:txBody>
      </p:sp>
      <p:pic>
        <p:nvPicPr>
          <p:cNvPr id="4" name="Image 0" descr="/home/claude/antar-aja/docs/investor/aset/18-risi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819" y="1188720"/>
            <a:ext cx="10472057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docs/riset/RISET-KOMPENSASI-REGULASI.md B.10.1 [S-21][S-48][S-49], B.5.4 [S-28][S-29], B.6.1 [S-31], B.8 [S-37][S-39], A.4.3; Lowy Institute 15 Januari 2026. Diakses 7 September 2026.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pendanaan dan penggunaan dana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Rp26,12 miliar untuk 24 bulan — separuhnya biaya SDM yang terhitung, separuhnya pos yang masih menunggu keputusan pemilik.</a:t>
            </a:r>
            <a:endParaRPr lang="en-US" sz="1200" dirty="0"/>
          </a:p>
        </p:txBody>
      </p:sp>
      <p:pic>
        <p:nvPicPr>
          <p:cNvPr id="4" name="Image 0" descr="/home/claude/antar-aja/docs/investor/aset/19-pendana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0874"/>
            <a:ext cx="11185855" cy="49906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docs/organisasi/AntarKita-Model-Biaya-SDM.xlsx lembar Ringkasan bagian B. Modal minimum KBLI 53200 Rp500 juta [S-41]. Pos non-SDM lainnya Rp12 miliar berstatus [ASUMSI] PLACEHOLDER — wajib diganti angka rencana bisnis pemilik sebelum deck dipakai untuk penawaran.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dan tata kelola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Kewenangan berjenjang, pemisahan tugas keuangan yang ditegakkan sistem, dan susunan direksi yang dinyatakan apa adanya.</a:t>
            </a:r>
            <a:endParaRPr lang="en-US" sz="1200" dirty="0"/>
          </a:p>
        </p:txBody>
      </p:sp>
      <p:pic>
        <p:nvPicPr>
          <p:cNvPr id="4" name="Image 0" descr="/home/claude/antar-aja/docs/investor/aset/20-tata-kel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6919"/>
            <a:ext cx="11185855" cy="48185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825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docs/organisasi/DESAIN-ORGANISASI.md §4 &amp; §6; Manual Organisasi &amp; SOP Bab 7; peran pemilik dari docs/RENCANA-LISTING-LIVE.md bagian D. Kolam ESOP 10% berstatus [ASUMSI].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6382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4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74C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834640"/>
            <a:ext cx="6035040" cy="6035040"/>
          </a:xfrm>
          <a:prstGeom prst="ellipse">
            <a:avLst/>
          </a:prstGeom>
          <a:solidFill>
            <a:srgbClr val="187A85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Produknya sudah ada.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kami cari adalah mitra untuk menyalakannya.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98448" y="27614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Pendanaan tahap awal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3108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Rp26,12 miliar untuk 24 bulan, dengan pos non-SDM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masih terbuka untuk dibahas bersama.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85876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98448" y="37673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Peluncuran Pekanbaru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4114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kota pertama dan mencapai likuiditas pasar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kota dalam 12 bulan.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86460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98448" y="47731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tuntas terbuka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51206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kode, laporan uji 34 skenario, model biaya SDM,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riset regulasi 61 sumber tersedia untuk diperiksa.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870448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1A5E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87044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Erza Pradipta Madana</a:t>
            </a:r>
            <a:pPr indent="0" marL="0">
              <a:buNone/>
            </a:pPr>
            <a:r>
              <a:rPr lang="en-US" sz="11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Pemilik &amp; Komisaris Utama, PT AntarKita Indonesia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erzamadana@gmail.com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57255" y="320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PT AntarKita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AntarKita — Deck Investor</dc:title>
  <dc:subject>PptxGenJS Presentation</dc:subject>
  <dc:creator>PT AntarKita Indonesia</dc:creator>
  <cp:lastModifiedBy>PT AntarKita Indonesia</cp:lastModifiedBy>
  <cp:revision>1</cp:revision>
  <dcterms:created xsi:type="dcterms:W3CDTF">2026-09-07T13:01:36Z</dcterms:created>
  <dcterms:modified xsi:type="dcterms:W3CDTF">2026-09-07T13:01:36Z</dcterms:modified>
</cp:coreProperties>
</file>